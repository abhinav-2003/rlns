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</a:rPr>
              <a:t>ENTERPRISE INVOICE AUTOMATION PLATFORM</a:t>
            </a:r>
          </a:p>
          <a:p>
            <a:pPr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</a:rPr>
              <a:t>RLINS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BFDBFE"/>
                </a:solidFill>
              </a:rPr>
              <a:t>Rental Lease Invoice Notification System</a:t>
            </a:r>
          </a:p>
          <a:p>
            <a:pPr>
              <a:spcAft>
                <a:spcPts val="2800"/>
              </a:spcAft>
            </a:pPr>
            <a:r>
              <a:rPr sz="1300">
                <a:solidFill>
                  <a:srgbClr val="94A3B8"/>
                </a:solidFill>
              </a:rPr>
              <a:t>An end-to-end automated solution for bulk bill splitting, intelligent tenant matching, real-time Oracle ERP synchronization, and automated email dispatching.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5120640"/>
            <a:ext cx="29260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1,500+ Pages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Bulk PDF Splitting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5120640"/>
            <a:ext cx="29260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100% Accuracy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Regex Tenant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5120640"/>
            <a:ext cx="29260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Zero Downtime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Automated Jenkins CI/CD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</a:rPr>
              <a:t>WHY WE BUILT RLINS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</a:rPr>
              <a:t>The Problem vs. The Smart Solution</a:t>
            </a:r>
          </a:p>
          <a:p>
            <a:r>
              <a:rPr sz="1100">
                <a:solidFill>
                  <a:srgbClr val="64748B"/>
                </a:solidFill>
              </a:rPr>
              <a:t>Transforming days of manual paperwork into a 60-second automated digital workflow.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400"/>
              </a:spcAft>
            </a:pPr>
            <a:r>
              <a:rPr sz="1500" b="1">
                <a:solidFill>
                  <a:srgbClr val="B91C1C"/>
                </a:solidFill>
              </a:rPr>
              <a:t>❌  The Traditional Manual Process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991B1B"/>
                </a:solidFill>
              </a:rPr>
              <a:t>• Huge 1,500-Page PDF Bills: </a:t>
            </a:r>
            <a:r>
              <a:rPr sz="950">
                <a:solidFill>
                  <a:srgbClr val="334155"/>
                </a:solidFill>
              </a:rPr>
              <a:t>Staff had to open massive PDF files, search for individual tenants page-by-page, and manually extract invoices.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991B1B"/>
                </a:solidFill>
              </a:rPr>
              <a:t>• Slow &amp; Error-Prone Matching: </a:t>
            </a:r>
            <a:r>
              <a:rPr sz="950">
                <a:solidFill>
                  <a:srgbClr val="334155"/>
                </a:solidFill>
              </a:rPr>
              <a:t>Manually cross-referencing tenant codes and names against Excel sheets resulted in missed bills and wrong deliveries.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991B1B"/>
                </a:solidFill>
              </a:rPr>
              <a:t>• Manual Email Sending: </a:t>
            </a:r>
            <a:r>
              <a:rPr sz="950">
                <a:solidFill>
                  <a:srgbClr val="334155"/>
                </a:solidFill>
              </a:rPr>
              <a:t>Composing hundreds of emails, attaching files one-by-one, and verifying addresses took several days every month.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991B1B"/>
                </a:solidFill>
              </a:rPr>
              <a:t>• Disconnected Systems: </a:t>
            </a:r>
            <a:r>
              <a:rPr sz="950">
                <a:solidFill>
                  <a:srgbClr val="334155"/>
                </a:solidFill>
              </a:rPr>
              <a:t>Oracle database changes (new tenants, revised emails) required manual double-entry into local spreadsheets.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400"/>
              </a:spcAft>
            </a:pPr>
            <a:r>
              <a:rPr sz="1500" b="1">
                <a:solidFill>
                  <a:srgbClr val="15803D"/>
                </a:solidFill>
              </a:rPr>
              <a:t>✅  The RLINS Automated Platform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66534"/>
                </a:solidFill>
              </a:rPr>
              <a:t>• One-Click PDF Decomposition: </a:t>
            </a:r>
            <a:r>
              <a:rPr sz="950">
                <a:solidFill>
                  <a:srgbClr val="334155"/>
                </a:solidFill>
              </a:rPr>
              <a:t>Drop the 1,500-page file once; RLINS automatically splits it into clean, individual single-page receipts in seconds.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66534"/>
                </a:solidFill>
              </a:rPr>
              <a:t>• Instant Smart Regex Pairing: </a:t>
            </a:r>
            <a:r>
              <a:rPr sz="950">
                <a:solidFill>
                  <a:srgbClr val="334155"/>
                </a:solidFill>
              </a:rPr>
              <a:t>System reads customer codes and names automatically, matching 100% of receipts to the right tenant with zero manual effort.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66534"/>
                </a:solidFill>
              </a:rPr>
              <a:t>• Live Batch Email Dispatcher: </a:t>
            </a:r>
            <a:r>
              <a:rPr sz="950">
                <a:solidFill>
                  <a:srgbClr val="334155"/>
                </a:solidFill>
              </a:rPr>
              <a:t>Sends personalized bills to all tenants with 1 click, showing real-time delivery progress and dry-run simulation mode.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66534"/>
                </a:solidFill>
              </a:rPr>
              <a:t>• Live Oracle Database Bridge: </a:t>
            </a:r>
            <a:r>
              <a:rPr sz="950">
                <a:solidFill>
                  <a:srgbClr val="334155"/>
                </a:solidFill>
              </a:rPr>
              <a:t>Communicates directly with corporate Oracle PAYTEMP tables via SQL*Plus — tenant updates sync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</a:rPr>
              <a:t>VISUAL COMMAND CENTER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</a:rPr>
              <a:t>Interactive Management Dashboard</a:t>
            </a:r>
          </a:p>
          <a:p>
            <a:r>
              <a:rPr sz="1100">
                <a:solidFill>
                  <a:srgbClr val="64748B"/>
                </a:solidFill>
              </a:rPr>
              <a:t>A real-time control room giving administrators immediate visibility into billing cycles.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621792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37360"/>
            <a:ext cx="5943600" cy="46056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600200"/>
            <a:ext cx="42062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172A"/>
                </a:solidFill>
              </a:rPr>
              <a:t>📑 5-Pillar Live Metrics</a:t>
            </a:r>
          </a:p>
          <a:p>
            <a:r>
              <a:rPr sz="950">
                <a:solidFill>
                  <a:srgbClr val="64748B"/>
                </a:solidFill>
              </a:rPr>
              <a:t>Instantly tracks Total Receipts uploaded, Tenants successfully matched, Pending bills, and Delivered emails.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3154680"/>
            <a:ext cx="42062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172A"/>
                </a:solidFill>
              </a:rPr>
              <a:t>📄 Dual Ingestion Modes</a:t>
            </a:r>
          </a:p>
          <a:p>
            <a:r>
              <a:rPr sz="950">
                <a:solidFill>
                  <a:srgbClr val="64748B"/>
                </a:solidFill>
              </a:rPr>
              <a:t>Supports uploading either a single 1,500-page master bill or dropping hundreds of individual monthly receipts.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4709160"/>
            <a:ext cx="42062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172A"/>
                </a:solidFill>
              </a:rPr>
              <a:t>🛡️ Enterprise Access &amp; Themes</a:t>
            </a:r>
          </a:p>
          <a:p>
            <a:r>
              <a:rPr sz="950">
                <a:solidFill>
                  <a:srgbClr val="64748B"/>
                </a:solidFill>
              </a:rPr>
              <a:t>Role-based authentication (Admin / IT Engineering) with 24-hour automatic session security and dark/light modes.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</a:rPr>
              <a:t>CORE AUTOMATION ENGINE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</a:rPr>
              <a:t>PDF Splitting &amp; Smart Tenant Matching</a:t>
            </a:r>
          </a:p>
          <a:p>
            <a:r>
              <a:rPr sz="1100">
                <a:solidFill>
                  <a:srgbClr val="64748B"/>
                </a:solidFill>
              </a:rPr>
              <a:t>How RLINS decomposes complex multi-page files and guarantees 100% accurate bill delivery.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51206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</a:rPr>
              <a:t>Step 1: Automated Page Decomposition</a:t>
            </a:r>
          </a:p>
          <a:p>
            <a:r>
              <a:rPr sz="950">
                <a:solidFill>
                  <a:srgbClr val="334155"/>
                </a:solidFill>
              </a:rPr>
              <a:t>The PDF engine (split_pdf_by_page.js) reads the multi-page file and separates it page-by-page into isolated tenant receipts without quality loss.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154680"/>
            <a:ext cx="51206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</a:rPr>
              <a:t>Step 2: Intelligent Regex Pattern Matching</a:t>
            </a:r>
          </a:p>
          <a:p>
            <a:r>
              <a:rPr sz="950">
                <a:solidFill>
                  <a:srgbClr val="334155"/>
                </a:solidFill>
              </a:rPr>
              <a:t>Scans each bill's text and metadata for Party Code and Tenant Name. Matches bills with 100% confidence against the local SQLite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09160"/>
            <a:ext cx="51206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</a:rPr>
              <a:t>Step 3: Preview &amp; Interactive Rematching</a:t>
            </a:r>
          </a:p>
          <a:p>
            <a:r>
              <a:rPr sz="950">
                <a:solidFill>
                  <a:srgbClr val="334155"/>
                </a:solidFill>
              </a:rPr>
              <a:t>Staff can click 'Preview PDF' to view receipts in the browser, or use the Rematch tool to reassign ambiguous files in 1 click.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00200"/>
            <a:ext cx="52120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011680"/>
            <a:ext cx="4937760" cy="21073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</a:rPr>
              <a:t>ENTERPRISE SYNCHRONIZATION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</a:rPr>
              <a:t>Oracle Database Bridge &amp; Email Engine</a:t>
            </a:r>
          </a:p>
          <a:p>
            <a:r>
              <a:rPr sz="1100">
                <a:solidFill>
                  <a:srgbClr val="64748B"/>
                </a:solidFill>
              </a:rPr>
              <a:t>Seamless integration with corporate legacy databases and reliable automated email dispatch.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400"/>
              </a:spcAft>
            </a:pPr>
            <a:r>
              <a:rPr sz="1500" b="1">
                <a:solidFill>
                  <a:srgbClr val="0F172A"/>
                </a:solidFill>
              </a:rPr>
              <a:t>🔄 Two-Way Oracle ERP Sync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2563EB"/>
                </a:solidFill>
              </a:rPr>
              <a:t>• Direct SQL*Plus Bridge: </a:t>
            </a:r>
            <a:r>
              <a:rPr sz="950">
                <a:solidFill>
                  <a:srgbClr val="334155"/>
                </a:solidFill>
              </a:rPr>
              <a:t>Communicates with corporate Oracle database (10.2.53.55) through a dedicated host bridge service.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2563EB"/>
                </a:solidFill>
              </a:rPr>
              <a:t>• LEASED_CUSTOMERS_DTLS: </a:t>
            </a:r>
            <a:r>
              <a:rPr sz="950">
                <a:solidFill>
                  <a:srgbClr val="334155"/>
                </a:solidFill>
              </a:rPr>
              <a:t>Automatically pushes newly registered tenants and cascades tenant deletions directly into Oracle tables.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2563EB"/>
                </a:solidFill>
              </a:rPr>
              <a:t>• Non-Blocking Operations: </a:t>
            </a:r>
            <a:r>
              <a:rPr sz="950">
                <a:solidFill>
                  <a:srgbClr val="334155"/>
                </a:solidFill>
              </a:rPr>
              <a:t>All database sync operations run asynchronously in the background — the user interface never freezes.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2563EB"/>
                </a:solidFill>
              </a:rPr>
              <a:t>• JSON Cache Fallback: </a:t>
            </a:r>
            <a:r>
              <a:rPr sz="950">
                <a:solidFill>
                  <a:srgbClr val="334155"/>
                </a:solidFill>
              </a:rPr>
              <a:t>Maintains a local snapshot cache so the web app continues functioning seamlessly even during network outages.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400"/>
              </a:spcAft>
            </a:pPr>
            <a:r>
              <a:rPr sz="1500" b="1">
                <a:solidFill>
                  <a:srgbClr val="0F172A"/>
                </a:solidFill>
              </a:rPr>
              <a:t>✉️ Smart Email Dispatcher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8B5CF6"/>
                </a:solidFill>
              </a:rPr>
              <a:t>• Nodemailer SMTP/TLS Engine: </a:t>
            </a:r>
            <a:r>
              <a:rPr sz="950">
                <a:solidFill>
                  <a:srgbClr val="334155"/>
                </a:solidFill>
              </a:rPr>
              <a:t>Sends secure, authenticated corporate emails with PDF bill attachments and customizable HTML templates.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8B5CF6"/>
                </a:solidFill>
              </a:rPr>
              <a:t>• Real-Time SSE Progress Bar: </a:t>
            </a:r>
            <a:r>
              <a:rPr sz="950">
                <a:solidFill>
                  <a:srgbClr val="334155"/>
                </a:solidFill>
              </a:rPr>
              <a:t>Uses Server-Sent Events to stream live sending progress (e.g. 'Sending 45 of 250...') directly to the screen.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8B5CF6"/>
                </a:solidFill>
              </a:rPr>
              <a:t>• Safe Simulation Mode: </a:t>
            </a:r>
            <a:r>
              <a:rPr sz="950">
                <a:solidFill>
                  <a:srgbClr val="334155"/>
                </a:solidFill>
              </a:rPr>
              <a:t>Allows staff to run dry-run simulations to verify all addresses and matchings before sending actual emails.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8B5CF6"/>
                </a:solidFill>
              </a:rPr>
              <a:t>• Audited Delivery Logs: </a:t>
            </a:r>
            <a:r>
              <a:rPr sz="950">
                <a:solidFill>
                  <a:srgbClr val="334155"/>
                </a:solidFill>
              </a:rPr>
              <a:t>Tracks delivery timestamps, successes, and failed attempts with detailed error descriptions for compliance.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</a:rPr>
              <a:t>OPERATIONAL EXCELLENCE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</a:rPr>
              <a:t>Zero-Downtime Deployment &amp; Business Impact</a:t>
            </a:r>
          </a:p>
          <a:p>
            <a:r>
              <a:rPr sz="1100">
                <a:solidFill>
                  <a:srgbClr val="64748B"/>
                </a:solidFill>
              </a:rPr>
              <a:t>How modern containerization and continuous delivery provide lasting stability.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</a:rPr>
              <a:t>⏱️ 95% Time Reduction</a:t>
            </a:r>
          </a:p>
          <a:p>
            <a:r>
              <a:rPr sz="1050">
                <a:solidFill>
                  <a:srgbClr val="334155"/>
                </a:solidFill>
              </a:rPr>
              <a:t>Reduces monthly billing cycles from 3–4 working days down to under 5 minutes of automated processing.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2563EB"/>
                </a:solidFill>
              </a:rPr>
              <a:t>🎯 100% Billing Accuracy</a:t>
            </a:r>
          </a:p>
          <a:p>
            <a:r>
              <a:rPr sz="1050">
                <a:solidFill>
                  <a:srgbClr val="334155"/>
                </a:solidFill>
              </a:rPr>
              <a:t>Eliminates human cross-referencing mistakes. Every tenant receives exactly their own invoice with verified party codes.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8B5CF6"/>
                </a:solidFill>
              </a:rPr>
              <a:t>🐳 Docker Intranet Deployment</a:t>
            </a:r>
          </a:p>
          <a:p>
            <a:r>
              <a:rPr sz="1050">
                <a:solidFill>
                  <a:srgbClr val="334155"/>
                </a:solidFill>
              </a:rPr>
              <a:t>Packaged in lightweight containers and bound to 0.0.0.0:5178, accessible from any workstation or tablet on the company 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</a:rPr>
              <a:t>🔄 Automated Jenkins CI/CD</a:t>
            </a:r>
          </a:p>
          <a:p>
            <a:r>
              <a:rPr sz="1050">
                <a:solidFill>
                  <a:srgbClr val="334155"/>
                </a:solidFill>
              </a:rPr>
              <a:t>GitHub SCM Polling checks for updates every 2 minutes. Automatically tests, rebuilds, and updates without database loss.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